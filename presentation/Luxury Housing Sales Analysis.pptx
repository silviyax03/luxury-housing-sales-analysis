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0" d="100"/>
          <a:sy n="60" d="100"/>
        </p:scale>
        <p:origin x="908"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57B4CE-3FF5-45D1-94AA-01E80953EC82}"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C20C445-D3E3-48C0-B5C0-9EF454308DF7}" type="slidenum">
              <a:rPr lang="en-IN" smtClean="0"/>
              <a:t>‹#›</a:t>
            </a:fld>
            <a:endParaRPr lang="en-IN"/>
          </a:p>
        </p:txBody>
      </p:sp>
    </p:spTree>
    <p:extLst>
      <p:ext uri="{BB962C8B-B14F-4D97-AF65-F5344CB8AC3E}">
        <p14:creationId xmlns:p14="http://schemas.microsoft.com/office/powerpoint/2010/main" val="271844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57B4CE-3FF5-45D1-94AA-01E80953EC82}"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C20C445-D3E3-48C0-B5C0-9EF454308DF7}" type="slidenum">
              <a:rPr lang="en-IN" smtClean="0"/>
              <a:t>‹#›</a:t>
            </a:fld>
            <a:endParaRPr lang="en-IN"/>
          </a:p>
        </p:txBody>
      </p:sp>
    </p:spTree>
    <p:extLst>
      <p:ext uri="{BB962C8B-B14F-4D97-AF65-F5344CB8AC3E}">
        <p14:creationId xmlns:p14="http://schemas.microsoft.com/office/powerpoint/2010/main" val="4069726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57B4CE-3FF5-45D1-94AA-01E80953EC82}"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C20C445-D3E3-48C0-B5C0-9EF454308DF7}" type="slidenum">
              <a:rPr lang="en-IN" smtClean="0"/>
              <a:t>‹#›</a:t>
            </a:fld>
            <a:endParaRPr lang="en-IN"/>
          </a:p>
        </p:txBody>
      </p:sp>
    </p:spTree>
    <p:extLst>
      <p:ext uri="{BB962C8B-B14F-4D97-AF65-F5344CB8AC3E}">
        <p14:creationId xmlns:p14="http://schemas.microsoft.com/office/powerpoint/2010/main" val="3479684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57B4CE-3FF5-45D1-94AA-01E80953EC82}"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2C20C445-D3E3-48C0-B5C0-9EF454308DF7}" type="slidenum">
              <a:rPr lang="en-IN" smtClean="0"/>
              <a:t>‹#›</a:t>
            </a:fld>
            <a:endParaRPr lang="en-IN"/>
          </a:p>
        </p:txBody>
      </p:sp>
    </p:spTree>
    <p:extLst>
      <p:ext uri="{BB962C8B-B14F-4D97-AF65-F5344CB8AC3E}">
        <p14:creationId xmlns:p14="http://schemas.microsoft.com/office/powerpoint/2010/main" val="912913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57B4CE-3FF5-45D1-94AA-01E80953EC82}" type="datetimeFigureOut">
              <a:rPr lang="en-IN" smtClean="0"/>
              <a:t>12-07-2026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C20C445-D3E3-48C0-B5C0-9EF454308DF7}" type="slidenum">
              <a:rPr lang="en-IN" smtClean="0"/>
              <a:t>‹#›</a:t>
            </a:fld>
            <a:endParaRPr lang="en-IN"/>
          </a:p>
        </p:txBody>
      </p:sp>
    </p:spTree>
    <p:extLst>
      <p:ext uri="{BB962C8B-B14F-4D97-AF65-F5344CB8AC3E}">
        <p14:creationId xmlns:p14="http://schemas.microsoft.com/office/powerpoint/2010/main" val="558101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57B4CE-3FF5-45D1-94AA-01E80953EC82}" type="datetimeFigureOut">
              <a:rPr lang="en-IN" smtClean="0"/>
              <a:t>12-07-2026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C20C445-D3E3-48C0-B5C0-9EF454308DF7}" type="slidenum">
              <a:rPr lang="en-IN" smtClean="0"/>
              <a:t>‹#›</a:t>
            </a:fld>
            <a:endParaRPr lang="en-IN"/>
          </a:p>
        </p:txBody>
      </p:sp>
    </p:spTree>
    <p:extLst>
      <p:ext uri="{BB962C8B-B14F-4D97-AF65-F5344CB8AC3E}">
        <p14:creationId xmlns:p14="http://schemas.microsoft.com/office/powerpoint/2010/main" val="2734018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57B4CE-3FF5-45D1-94AA-01E80953EC82}" type="datetimeFigureOut">
              <a:rPr lang="en-IN" smtClean="0"/>
              <a:t>12-07-2026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C20C445-D3E3-48C0-B5C0-9EF454308DF7}" type="slidenum">
              <a:rPr lang="en-IN" smtClean="0"/>
              <a:t>‹#›</a:t>
            </a:fld>
            <a:endParaRPr lang="en-IN"/>
          </a:p>
        </p:txBody>
      </p:sp>
    </p:spTree>
    <p:extLst>
      <p:ext uri="{BB962C8B-B14F-4D97-AF65-F5344CB8AC3E}">
        <p14:creationId xmlns:p14="http://schemas.microsoft.com/office/powerpoint/2010/main" val="1942287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57B4CE-3FF5-45D1-94AA-01E80953EC82}"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C20C445-D3E3-48C0-B5C0-9EF454308DF7}" type="slidenum">
              <a:rPr lang="en-IN" smtClean="0"/>
              <a:t>‹#›</a:t>
            </a:fld>
            <a:endParaRPr lang="en-IN"/>
          </a:p>
        </p:txBody>
      </p:sp>
    </p:spTree>
    <p:extLst>
      <p:ext uri="{BB962C8B-B14F-4D97-AF65-F5344CB8AC3E}">
        <p14:creationId xmlns:p14="http://schemas.microsoft.com/office/powerpoint/2010/main" val="1181316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57B4CE-3FF5-45D1-94AA-01E80953EC82}"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C20C445-D3E3-48C0-B5C0-9EF454308DF7}" type="slidenum">
              <a:rPr lang="en-IN" smtClean="0"/>
              <a:t>‹#›</a:t>
            </a:fld>
            <a:endParaRPr lang="en-IN"/>
          </a:p>
        </p:txBody>
      </p:sp>
    </p:spTree>
    <p:extLst>
      <p:ext uri="{BB962C8B-B14F-4D97-AF65-F5344CB8AC3E}">
        <p14:creationId xmlns:p14="http://schemas.microsoft.com/office/powerpoint/2010/main" val="1347374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57B4CE-3FF5-45D1-94AA-01E80953EC82}"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C20C445-D3E3-48C0-B5C0-9EF454308DF7}" type="slidenum">
              <a:rPr lang="en-IN" smtClean="0"/>
              <a:t>‹#›</a:t>
            </a:fld>
            <a:endParaRPr lang="en-IN"/>
          </a:p>
        </p:txBody>
      </p:sp>
    </p:spTree>
    <p:extLst>
      <p:ext uri="{BB962C8B-B14F-4D97-AF65-F5344CB8AC3E}">
        <p14:creationId xmlns:p14="http://schemas.microsoft.com/office/powerpoint/2010/main" val="1595426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57B4CE-3FF5-45D1-94AA-01E80953EC82}"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C20C445-D3E3-48C0-B5C0-9EF454308DF7}"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882323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357B4CE-3FF5-45D1-94AA-01E80953EC82}"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C20C445-D3E3-48C0-B5C0-9EF454308DF7}" type="slidenum">
              <a:rPr lang="en-IN" smtClean="0"/>
              <a:t>‹#›</a:t>
            </a:fld>
            <a:endParaRPr lang="en-IN"/>
          </a:p>
        </p:txBody>
      </p:sp>
    </p:spTree>
    <p:extLst>
      <p:ext uri="{BB962C8B-B14F-4D97-AF65-F5344CB8AC3E}">
        <p14:creationId xmlns:p14="http://schemas.microsoft.com/office/powerpoint/2010/main" val="985768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357B4CE-3FF5-45D1-94AA-01E80953EC82}"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C20C445-D3E3-48C0-B5C0-9EF454308DF7}"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414915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357B4CE-3FF5-45D1-94AA-01E80953EC82}"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C20C445-D3E3-48C0-B5C0-9EF454308DF7}" type="slidenum">
              <a:rPr lang="en-IN" smtClean="0"/>
              <a:t>‹#›</a:t>
            </a:fld>
            <a:endParaRPr lang="en-IN"/>
          </a:p>
        </p:txBody>
      </p:sp>
    </p:spTree>
    <p:extLst>
      <p:ext uri="{BB962C8B-B14F-4D97-AF65-F5344CB8AC3E}">
        <p14:creationId xmlns:p14="http://schemas.microsoft.com/office/powerpoint/2010/main" val="26837039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57B4CE-3FF5-45D1-94AA-01E80953EC82}"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C20C445-D3E3-48C0-B5C0-9EF454308DF7}" type="slidenum">
              <a:rPr lang="en-IN" smtClean="0"/>
              <a:t>‹#›</a:t>
            </a:fld>
            <a:endParaRPr lang="en-IN"/>
          </a:p>
        </p:txBody>
      </p:sp>
    </p:spTree>
    <p:extLst>
      <p:ext uri="{BB962C8B-B14F-4D97-AF65-F5344CB8AC3E}">
        <p14:creationId xmlns:p14="http://schemas.microsoft.com/office/powerpoint/2010/main" val="11337726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57B4CE-3FF5-45D1-94AA-01E80953EC82}"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C20C445-D3E3-48C0-B5C0-9EF454308DF7}" type="slidenum">
              <a:rPr lang="en-IN" smtClean="0"/>
              <a:t>‹#›</a:t>
            </a:fld>
            <a:endParaRPr lang="en-IN"/>
          </a:p>
        </p:txBody>
      </p:sp>
    </p:spTree>
    <p:extLst>
      <p:ext uri="{BB962C8B-B14F-4D97-AF65-F5344CB8AC3E}">
        <p14:creationId xmlns:p14="http://schemas.microsoft.com/office/powerpoint/2010/main" val="361119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357B4CE-3FF5-45D1-94AA-01E80953EC82}" type="datetimeFigureOut">
              <a:rPr lang="en-IN" smtClean="0"/>
              <a:t>12-07-2026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C20C445-D3E3-48C0-B5C0-9EF454308DF7}" type="slidenum">
              <a:rPr lang="en-IN" smtClean="0"/>
              <a:t>‹#›</a:t>
            </a:fld>
            <a:endParaRPr lang="en-IN"/>
          </a:p>
        </p:txBody>
      </p:sp>
    </p:spTree>
    <p:extLst>
      <p:ext uri="{BB962C8B-B14F-4D97-AF65-F5344CB8AC3E}">
        <p14:creationId xmlns:p14="http://schemas.microsoft.com/office/powerpoint/2010/main" val="401408984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F0E18-84DC-BB18-43BF-F2C46EBF7C3E}"/>
              </a:ext>
            </a:extLst>
          </p:cNvPr>
          <p:cNvSpPr>
            <a:spLocks noGrp="1"/>
          </p:cNvSpPr>
          <p:nvPr>
            <p:ph type="ctrTitle"/>
          </p:nvPr>
        </p:nvSpPr>
        <p:spPr>
          <a:xfrm>
            <a:off x="2126876" y="1353620"/>
            <a:ext cx="8915399" cy="2262781"/>
          </a:xfrm>
        </p:spPr>
        <p:txBody>
          <a:bodyPr>
            <a:normAutofit/>
          </a:bodyPr>
          <a:lstStyle/>
          <a:p>
            <a:pPr algn="ctr"/>
            <a:r>
              <a:rPr lang="en-US" sz="4400" b="1" dirty="0">
                <a:latin typeface="Calibri" panose="020F0502020204030204" pitchFamily="34" charset="0"/>
                <a:ea typeface="Calibri" panose="020F0502020204030204" pitchFamily="34" charset="0"/>
                <a:cs typeface="Calibri" panose="020F0502020204030204" pitchFamily="34" charset="0"/>
              </a:rPr>
              <a:t>Luxury Housing Sales Analysis – Bengaluru</a:t>
            </a:r>
            <a:br>
              <a:rPr lang="en-US" sz="4400" b="1" dirty="0">
                <a:latin typeface="Calibri" panose="020F0502020204030204" pitchFamily="34" charset="0"/>
                <a:ea typeface="Calibri" panose="020F0502020204030204" pitchFamily="34" charset="0"/>
                <a:cs typeface="Calibri" panose="020F0502020204030204" pitchFamily="34" charset="0"/>
              </a:rPr>
            </a:br>
            <a:endParaRPr lang="en-IN" sz="44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2BD129CB-CA39-F34A-9D64-3E0B4ACC3131}"/>
              </a:ext>
            </a:extLst>
          </p:cNvPr>
          <p:cNvSpPr>
            <a:spLocks noGrp="1"/>
          </p:cNvSpPr>
          <p:nvPr>
            <p:ph type="subTitle" idx="1"/>
          </p:nvPr>
        </p:nvSpPr>
        <p:spPr>
          <a:xfrm>
            <a:off x="2589214" y="4777379"/>
            <a:ext cx="7941798" cy="1126283"/>
          </a:xfrm>
        </p:spPr>
        <p:txBody>
          <a:bodyPr>
            <a:noAutofit/>
          </a:bodyPr>
          <a:lstStyle/>
          <a:p>
            <a:pPr algn="r"/>
            <a:r>
              <a:rPr lang="en-IN" sz="2000" dirty="0">
                <a:latin typeface="Calibri" panose="020F0502020204030204" pitchFamily="34" charset="0"/>
                <a:ea typeface="Calibri" panose="020F0502020204030204" pitchFamily="34" charset="0"/>
                <a:cs typeface="Calibri" panose="020F0502020204030204" pitchFamily="34" charset="0"/>
              </a:rPr>
              <a:t>-By </a:t>
            </a:r>
          </a:p>
          <a:p>
            <a:pPr algn="r"/>
            <a:r>
              <a:rPr lang="en-IN" sz="2000" dirty="0">
                <a:latin typeface="Calibri" panose="020F0502020204030204" pitchFamily="34" charset="0"/>
                <a:ea typeface="Calibri" panose="020F0502020204030204" pitchFamily="34" charset="0"/>
                <a:cs typeface="Calibri" panose="020F0502020204030204" pitchFamily="34" charset="0"/>
              </a:rPr>
              <a:t>Silviya X</a:t>
            </a:r>
          </a:p>
          <a:p>
            <a:pPr algn="r"/>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IN" sz="2000" dirty="0">
              <a:latin typeface="Calibri" panose="020F0502020204030204" pitchFamily="34" charset="0"/>
              <a:ea typeface="Calibri" panose="020F0502020204030204" pitchFamily="34" charset="0"/>
              <a:cs typeface="Calibri" panose="020F0502020204030204" pitchFamily="34" charset="0"/>
            </a:endParaRPr>
          </a:p>
          <a:p>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41564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711435-17AA-1D97-B725-283A820B54B4}"/>
              </a:ext>
            </a:extLst>
          </p:cNvPr>
          <p:cNvSpPr txBox="1"/>
          <p:nvPr/>
        </p:nvSpPr>
        <p:spPr>
          <a:xfrm>
            <a:off x="2537718" y="1189153"/>
            <a:ext cx="8979612" cy="4204356"/>
          </a:xfrm>
          <a:prstGeom prst="rect">
            <a:avLst/>
          </a:prstGeom>
          <a:noFill/>
        </p:spPr>
        <p:txBody>
          <a:bodyPr wrap="square">
            <a:spAutoFit/>
          </a:bodyPr>
          <a:lstStyle/>
          <a:p>
            <a:pPr>
              <a:lnSpc>
                <a:spcPct val="150000"/>
              </a:lnSpc>
              <a:buNone/>
            </a:pPr>
            <a:r>
              <a:rPr lang="en-US" b="1" dirty="0">
                <a:latin typeface="Calibri" panose="020F0502020204030204" pitchFamily="34" charset="0"/>
                <a:ea typeface="Calibri" panose="020F0502020204030204" pitchFamily="34" charset="0"/>
                <a:cs typeface="Calibri" panose="020F0502020204030204" pitchFamily="34" charset="0"/>
              </a:rPr>
              <a:t>Problem Statement</a:t>
            </a:r>
          </a:p>
          <a:p>
            <a:pPr lvl="1">
              <a:lnSpc>
                <a:spcPct val="150000"/>
              </a:lnSpc>
            </a:pPr>
            <a:r>
              <a:rPr lang="en-US" dirty="0">
                <a:latin typeface="Calibri" panose="020F0502020204030204" pitchFamily="34" charset="0"/>
                <a:ea typeface="Calibri" panose="020F0502020204030204" pitchFamily="34" charset="0"/>
                <a:cs typeface="Calibri" panose="020F0502020204030204" pitchFamily="34" charset="0"/>
              </a:rPr>
              <a:t>The luxury housing market generates large volumes of sales data that can be difficult to analyze manually. This project transforms raw housing sales data into meaningful insights to support strategic decision-making for developers and real estate firms.</a:t>
            </a:r>
          </a:p>
          <a:p>
            <a:pPr>
              <a:lnSpc>
                <a:spcPct val="150000"/>
              </a:lnSpc>
              <a:buNone/>
            </a:pPr>
            <a:endParaRPr lang="en-US" dirty="0">
              <a:latin typeface="Calibri" panose="020F0502020204030204" pitchFamily="34" charset="0"/>
              <a:ea typeface="Calibri" panose="020F0502020204030204" pitchFamily="34" charset="0"/>
              <a:cs typeface="Calibri" panose="020F0502020204030204" pitchFamily="34" charset="0"/>
            </a:endParaRPr>
          </a:p>
          <a:p>
            <a:pPr>
              <a:lnSpc>
                <a:spcPct val="150000"/>
              </a:lnSpc>
              <a:buNone/>
            </a:pPr>
            <a:r>
              <a:rPr lang="en-US" b="1" dirty="0">
                <a:latin typeface="Calibri" panose="020F0502020204030204" pitchFamily="34" charset="0"/>
                <a:ea typeface="Calibri" panose="020F0502020204030204" pitchFamily="34" charset="0"/>
                <a:cs typeface="Calibri" panose="020F0502020204030204" pitchFamily="34" charset="0"/>
              </a:rPr>
              <a:t>Objectives</a:t>
            </a:r>
          </a:p>
          <a:p>
            <a:pPr lvl="1">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Clean and preprocess housing sales data. </a:t>
            </a:r>
          </a:p>
          <a:p>
            <a:pPr lvl="1">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Load data into a MySQL database. </a:t>
            </a:r>
          </a:p>
          <a:p>
            <a:pPr lvl="1">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Build an interactive Power BI dashboard. </a:t>
            </a:r>
          </a:p>
          <a:p>
            <a:pPr lvl="1">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Generate business insights from sales trends and buyer preferences.</a:t>
            </a:r>
          </a:p>
        </p:txBody>
      </p:sp>
    </p:spTree>
    <p:extLst>
      <p:ext uri="{BB962C8B-B14F-4D97-AF65-F5344CB8AC3E}">
        <p14:creationId xmlns:p14="http://schemas.microsoft.com/office/powerpoint/2010/main" val="720150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3709AE-5443-0EB9-F2B3-E7B1D07900F7}"/>
              </a:ext>
            </a:extLst>
          </p:cNvPr>
          <p:cNvSpPr txBox="1"/>
          <p:nvPr/>
        </p:nvSpPr>
        <p:spPr>
          <a:xfrm>
            <a:off x="2935840" y="608768"/>
            <a:ext cx="6097712" cy="5035353"/>
          </a:xfrm>
          <a:prstGeom prst="rect">
            <a:avLst/>
          </a:prstGeom>
          <a:noFill/>
        </p:spPr>
        <p:txBody>
          <a:bodyPr wrap="square">
            <a:spAutoFit/>
          </a:bodyPr>
          <a:lstStyle/>
          <a:p>
            <a:pPr>
              <a:lnSpc>
                <a:spcPct val="150000"/>
              </a:lnSpc>
            </a:pPr>
            <a:r>
              <a:rPr lang="en-IN" b="1" dirty="0">
                <a:latin typeface="Calibri" panose="020F0502020204030204" pitchFamily="34" charset="0"/>
                <a:ea typeface="Calibri" panose="020F0502020204030204" pitchFamily="34" charset="0"/>
                <a:cs typeface="Calibri" panose="020F0502020204030204" pitchFamily="34" charset="0"/>
              </a:rPr>
              <a:t>Technology Stack</a:t>
            </a:r>
          </a:p>
          <a:p>
            <a:pPr marL="742950" lvl="1" indent="-285750">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Python</a:t>
            </a:r>
          </a:p>
          <a:p>
            <a:pPr marL="742950" lvl="1" indent="-285750">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Pandas (Data processing)</a:t>
            </a:r>
          </a:p>
          <a:p>
            <a:pPr marL="742950" lvl="1" indent="-285750">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NumPy</a:t>
            </a:r>
          </a:p>
          <a:p>
            <a:pPr marL="742950" lvl="1" indent="-285750">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MYSQL</a:t>
            </a:r>
          </a:p>
          <a:p>
            <a:pPr marL="742950" lvl="1" indent="-285750">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Power BI</a:t>
            </a:r>
          </a:p>
          <a:p>
            <a:pPr marL="742950" lvl="1" indent="-285750">
              <a:lnSpc>
                <a:spcPct val="150000"/>
              </a:lnSpc>
              <a:buFont typeface="Arial" panose="020B0604020202020204" pitchFamily="34" charset="0"/>
              <a:buChar char="•"/>
            </a:pPr>
            <a:endParaRPr lang="en-IN" b="1"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IN" b="1" dirty="0">
                <a:latin typeface="Calibri" panose="020F0502020204030204" pitchFamily="34" charset="0"/>
                <a:ea typeface="Calibri" panose="020F0502020204030204" pitchFamily="34" charset="0"/>
                <a:cs typeface="Calibri" panose="020F0502020204030204" pitchFamily="34" charset="0"/>
              </a:rPr>
              <a:t>Dataset Description</a:t>
            </a:r>
          </a:p>
          <a:p>
            <a:pPr lvl="1" defTabSz="914400" eaLnBrk="0" fontAlgn="base" hangingPunct="0">
              <a:lnSpc>
                <a:spcPct val="150000"/>
              </a:lnSpc>
              <a:spcBef>
                <a:spcPct val="0"/>
              </a:spcBef>
              <a:spcAft>
                <a:spcPct val="0"/>
              </a:spcAft>
              <a:buFontTx/>
              <a:buChar char="•"/>
            </a:pPr>
            <a:r>
              <a:rPr lang="en-US" altLang="en-US" b="1" dirty="0">
                <a:latin typeface="Calibri" panose="020F0502020204030204" pitchFamily="34" charset="0"/>
                <a:ea typeface="Calibri" panose="020F0502020204030204" pitchFamily="34" charset="0"/>
                <a:cs typeface="Calibri" panose="020F0502020204030204" pitchFamily="34" charset="0"/>
              </a:rPr>
              <a:t> Domain:</a:t>
            </a:r>
            <a:r>
              <a:rPr lang="en-US" altLang="en-US" dirty="0">
                <a:latin typeface="Calibri" panose="020F0502020204030204" pitchFamily="34" charset="0"/>
                <a:ea typeface="Calibri" panose="020F0502020204030204" pitchFamily="34" charset="0"/>
                <a:cs typeface="Calibri" panose="020F0502020204030204" pitchFamily="34" charset="0"/>
              </a:rPr>
              <a:t> Real Estate </a:t>
            </a:r>
          </a:p>
          <a:p>
            <a:pPr lvl="1" defTabSz="914400" eaLnBrk="0" fontAlgn="base" hangingPunct="0">
              <a:lnSpc>
                <a:spcPct val="150000"/>
              </a:lnSpc>
              <a:spcBef>
                <a:spcPct val="0"/>
              </a:spcBef>
              <a:spcAft>
                <a:spcPct val="0"/>
              </a:spcAft>
              <a:buFontTx/>
              <a:buChar char="•"/>
            </a:pPr>
            <a:r>
              <a:rPr lang="en-US" altLang="en-US" b="1" dirty="0">
                <a:latin typeface="Calibri" panose="020F0502020204030204" pitchFamily="34" charset="0"/>
                <a:ea typeface="Calibri" panose="020F0502020204030204" pitchFamily="34" charset="0"/>
                <a:cs typeface="Calibri" panose="020F0502020204030204" pitchFamily="34" charset="0"/>
              </a:rPr>
              <a:t> Location:</a:t>
            </a:r>
            <a:r>
              <a:rPr lang="en-US" altLang="en-US" dirty="0">
                <a:latin typeface="Calibri" panose="020F0502020204030204" pitchFamily="34" charset="0"/>
                <a:ea typeface="Calibri" panose="020F0502020204030204" pitchFamily="34" charset="0"/>
                <a:cs typeface="Calibri" panose="020F0502020204030204" pitchFamily="34" charset="0"/>
              </a:rPr>
              <a:t> Bengaluru </a:t>
            </a:r>
          </a:p>
          <a:p>
            <a:pPr lvl="1" defTabSz="914400" eaLnBrk="0" fontAlgn="base" hangingPunct="0">
              <a:lnSpc>
                <a:spcPct val="150000"/>
              </a:lnSpc>
              <a:spcBef>
                <a:spcPct val="0"/>
              </a:spcBef>
              <a:spcAft>
                <a:spcPct val="0"/>
              </a:spcAft>
              <a:buFontTx/>
              <a:buChar char="•"/>
            </a:pPr>
            <a:r>
              <a:rPr lang="en-US" altLang="en-US" b="1" dirty="0">
                <a:latin typeface="Calibri" panose="020F0502020204030204" pitchFamily="34" charset="0"/>
                <a:ea typeface="Calibri" panose="020F0502020204030204" pitchFamily="34" charset="0"/>
                <a:cs typeface="Calibri" panose="020F0502020204030204" pitchFamily="34" charset="0"/>
              </a:rPr>
              <a:t> Records:</a:t>
            </a:r>
            <a:r>
              <a:rPr lang="en-US" altLang="en-US" dirty="0">
                <a:latin typeface="Calibri" panose="020F0502020204030204" pitchFamily="34" charset="0"/>
                <a:ea typeface="Calibri" panose="020F0502020204030204" pitchFamily="34" charset="0"/>
                <a:cs typeface="Calibri" panose="020F0502020204030204" pitchFamily="34" charset="0"/>
              </a:rPr>
              <a:t> 100,000+ </a:t>
            </a:r>
          </a:p>
          <a:p>
            <a:pPr lvl="1" defTabSz="914400" eaLnBrk="0" fontAlgn="base" hangingPunct="0">
              <a:lnSpc>
                <a:spcPct val="150000"/>
              </a:lnSpc>
              <a:spcBef>
                <a:spcPct val="0"/>
              </a:spcBef>
              <a:spcAft>
                <a:spcPct val="0"/>
              </a:spcAft>
              <a:buFontTx/>
              <a:buChar char="•"/>
            </a:pPr>
            <a:r>
              <a:rPr lang="en-US" altLang="en-US" b="1" dirty="0">
                <a:latin typeface="Calibri" panose="020F0502020204030204" pitchFamily="34" charset="0"/>
                <a:ea typeface="Calibri" panose="020F0502020204030204" pitchFamily="34" charset="0"/>
                <a:cs typeface="Calibri" panose="020F0502020204030204" pitchFamily="34" charset="0"/>
              </a:rPr>
              <a:t> Source:</a:t>
            </a:r>
            <a:r>
              <a:rPr lang="en-US" altLang="en-US" dirty="0">
                <a:latin typeface="Calibri" panose="020F0502020204030204" pitchFamily="34" charset="0"/>
                <a:ea typeface="Calibri" panose="020F0502020204030204" pitchFamily="34" charset="0"/>
                <a:cs typeface="Calibri" panose="020F0502020204030204" pitchFamily="34" charset="0"/>
              </a:rPr>
              <a:t> GUVI Project Dataset </a:t>
            </a:r>
          </a:p>
        </p:txBody>
      </p:sp>
    </p:spTree>
    <p:extLst>
      <p:ext uri="{BB962C8B-B14F-4D97-AF65-F5344CB8AC3E}">
        <p14:creationId xmlns:p14="http://schemas.microsoft.com/office/powerpoint/2010/main" val="3089849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493EFD-5553-2295-9B72-F2BE83FF0F86}"/>
              </a:ext>
            </a:extLst>
          </p:cNvPr>
          <p:cNvSpPr txBox="1"/>
          <p:nvPr/>
        </p:nvSpPr>
        <p:spPr>
          <a:xfrm>
            <a:off x="3551005" y="911323"/>
            <a:ext cx="5089989" cy="5035353"/>
          </a:xfrm>
          <a:prstGeom prst="rect">
            <a:avLst/>
          </a:prstGeom>
          <a:noFill/>
        </p:spPr>
        <p:txBody>
          <a:bodyPr wrap="square">
            <a:spAutoFit/>
          </a:bodyPr>
          <a:lstStyle/>
          <a:p>
            <a:pPr>
              <a:lnSpc>
                <a:spcPct val="150000"/>
              </a:lnSpc>
              <a:buNone/>
            </a:pPr>
            <a:r>
              <a:rPr lang="en-US" b="1" dirty="0">
                <a:latin typeface="Calibri" panose="020F0502020204030204" pitchFamily="34" charset="0"/>
                <a:ea typeface="Calibri" panose="020F0502020204030204" pitchFamily="34" charset="0"/>
                <a:cs typeface="Calibri" panose="020F0502020204030204" pitchFamily="34" charset="0"/>
              </a:rPr>
              <a:t>Key Columns</a:t>
            </a:r>
          </a:p>
          <a:p>
            <a:pPr lvl="1">
              <a:lnSpc>
                <a:spcPct val="150000"/>
              </a:lnSpc>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Property_ID</a:t>
            </a:r>
            <a:r>
              <a:rPr lang="en-US" dirty="0">
                <a:latin typeface="Calibri" panose="020F0502020204030204" pitchFamily="34" charset="0"/>
                <a:ea typeface="Calibri" panose="020F0502020204030204" pitchFamily="34" charset="0"/>
                <a:cs typeface="Calibri" panose="020F0502020204030204" pitchFamily="34" charset="0"/>
              </a:rPr>
              <a:t> </a:t>
            </a:r>
          </a:p>
          <a:p>
            <a:pPr lvl="1">
              <a:lnSpc>
                <a:spcPct val="150000"/>
              </a:lnSpc>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Developer_Name</a:t>
            </a:r>
            <a:r>
              <a:rPr lang="en-US" dirty="0">
                <a:latin typeface="Calibri" panose="020F0502020204030204" pitchFamily="34" charset="0"/>
                <a:ea typeface="Calibri" panose="020F0502020204030204" pitchFamily="34" charset="0"/>
                <a:cs typeface="Calibri" panose="020F0502020204030204" pitchFamily="34" charset="0"/>
              </a:rPr>
              <a:t> </a:t>
            </a:r>
          </a:p>
          <a:p>
            <a:pPr lvl="1">
              <a:lnSpc>
                <a:spcPct val="150000"/>
              </a:lnSpc>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Micro_Market</a:t>
            </a:r>
            <a:r>
              <a:rPr lang="en-US" dirty="0">
                <a:latin typeface="Calibri" panose="020F0502020204030204" pitchFamily="34" charset="0"/>
                <a:ea typeface="Calibri" panose="020F0502020204030204" pitchFamily="34" charset="0"/>
                <a:cs typeface="Calibri" panose="020F0502020204030204" pitchFamily="34" charset="0"/>
              </a:rPr>
              <a:t> </a:t>
            </a:r>
          </a:p>
          <a:p>
            <a:pPr lvl="1">
              <a:lnSpc>
                <a:spcPct val="150000"/>
              </a:lnSpc>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Ticket_Price_Cr</a:t>
            </a:r>
            <a:r>
              <a:rPr lang="en-US" dirty="0">
                <a:latin typeface="Calibri" panose="020F0502020204030204" pitchFamily="34" charset="0"/>
                <a:ea typeface="Calibri" panose="020F0502020204030204" pitchFamily="34" charset="0"/>
                <a:cs typeface="Calibri" panose="020F0502020204030204" pitchFamily="34" charset="0"/>
              </a:rPr>
              <a:t> </a:t>
            </a:r>
          </a:p>
          <a:p>
            <a:pPr lvl="1">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Configuration </a:t>
            </a:r>
          </a:p>
          <a:p>
            <a:pPr lvl="1">
              <a:lnSpc>
                <a:spcPct val="150000"/>
              </a:lnSpc>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Possession_Status</a:t>
            </a:r>
            <a:r>
              <a:rPr lang="en-US" dirty="0">
                <a:latin typeface="Calibri" panose="020F0502020204030204" pitchFamily="34" charset="0"/>
                <a:ea typeface="Calibri" panose="020F0502020204030204" pitchFamily="34" charset="0"/>
                <a:cs typeface="Calibri" panose="020F0502020204030204" pitchFamily="34" charset="0"/>
              </a:rPr>
              <a:t> </a:t>
            </a:r>
          </a:p>
          <a:p>
            <a:pPr lvl="1">
              <a:lnSpc>
                <a:spcPct val="150000"/>
              </a:lnSpc>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Amenity_Score</a:t>
            </a:r>
            <a:r>
              <a:rPr lang="en-US" dirty="0">
                <a:latin typeface="Calibri" panose="020F0502020204030204" pitchFamily="34" charset="0"/>
                <a:ea typeface="Calibri" panose="020F0502020204030204" pitchFamily="34" charset="0"/>
                <a:cs typeface="Calibri" panose="020F0502020204030204" pitchFamily="34" charset="0"/>
              </a:rPr>
              <a:t> </a:t>
            </a:r>
          </a:p>
          <a:p>
            <a:pPr lvl="1">
              <a:lnSpc>
                <a:spcPct val="150000"/>
              </a:lnSpc>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Sales_Channel</a:t>
            </a:r>
            <a:r>
              <a:rPr lang="en-US" dirty="0">
                <a:latin typeface="Calibri" panose="020F0502020204030204" pitchFamily="34" charset="0"/>
                <a:ea typeface="Calibri" panose="020F0502020204030204" pitchFamily="34" charset="0"/>
                <a:cs typeface="Calibri" panose="020F0502020204030204" pitchFamily="34" charset="0"/>
              </a:rPr>
              <a:t> </a:t>
            </a:r>
          </a:p>
          <a:p>
            <a:pPr lvl="1">
              <a:lnSpc>
                <a:spcPct val="150000"/>
              </a:lnSpc>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Buyer_Type</a:t>
            </a:r>
            <a:r>
              <a:rPr lang="en-US" dirty="0">
                <a:latin typeface="Calibri" panose="020F0502020204030204" pitchFamily="34" charset="0"/>
                <a:ea typeface="Calibri" panose="020F0502020204030204" pitchFamily="34" charset="0"/>
                <a:cs typeface="Calibri" panose="020F0502020204030204" pitchFamily="34" charset="0"/>
              </a:rPr>
              <a:t> </a:t>
            </a:r>
          </a:p>
          <a:p>
            <a:pPr lvl="1">
              <a:lnSpc>
                <a:spcPct val="150000"/>
              </a:lnSpc>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Buyer_Comments</a:t>
            </a:r>
            <a:r>
              <a:rPr lang="en-US" dirty="0">
                <a:latin typeface="Calibri" panose="020F0502020204030204" pitchFamily="34" charset="0"/>
                <a:ea typeface="Calibri" panose="020F0502020204030204" pitchFamily="34" charset="0"/>
                <a:cs typeface="Calibri" panose="020F0502020204030204" pitchFamily="34" charset="0"/>
              </a:rPr>
              <a:t> </a:t>
            </a:r>
          </a:p>
          <a:p>
            <a:pPr lvl="1">
              <a:lnSpc>
                <a:spcPct val="150000"/>
              </a:lnSpc>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Quarter_Label</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06914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1FCC1A-B4D1-77F3-0F31-AAE67A9482B0}"/>
              </a:ext>
            </a:extLst>
          </p:cNvPr>
          <p:cNvSpPr txBox="1"/>
          <p:nvPr/>
        </p:nvSpPr>
        <p:spPr>
          <a:xfrm>
            <a:off x="3706403" y="308787"/>
            <a:ext cx="5766370" cy="6240426"/>
          </a:xfrm>
          <a:prstGeom prst="rect">
            <a:avLst/>
          </a:prstGeom>
          <a:noFill/>
        </p:spPr>
        <p:txBody>
          <a:bodyPr wrap="square">
            <a:spAutoFit/>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Project Workflow</a:t>
            </a:r>
          </a:p>
          <a:p>
            <a:pPr>
              <a:lnSpc>
                <a:spcPct val="150000"/>
              </a:lnSpc>
              <a:buNone/>
            </a:pPr>
            <a:endParaRPr lang="en-IN" sz="1600" b="1" dirty="0">
              <a:latin typeface="Calibri" panose="020F0502020204030204" pitchFamily="34" charset="0"/>
              <a:ea typeface="Calibri" panose="020F0502020204030204" pitchFamily="34" charset="0"/>
              <a:cs typeface="Calibri" panose="020F0502020204030204" pitchFamily="34" charset="0"/>
            </a:endParaRPr>
          </a:p>
          <a:p>
            <a:pPr lvl="2">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Raw Housing Dataset</a:t>
            </a:r>
          </a:p>
          <a:p>
            <a:pPr lvl="2">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        ↓</a:t>
            </a:r>
          </a:p>
          <a:p>
            <a:pPr lvl="2">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Python Data Cleaning</a:t>
            </a:r>
          </a:p>
          <a:p>
            <a:pPr lvl="2">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        ↓</a:t>
            </a:r>
          </a:p>
          <a:p>
            <a:pPr lvl="2">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Feature Engineering</a:t>
            </a:r>
          </a:p>
          <a:p>
            <a:pPr lvl="2">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        ↓</a:t>
            </a:r>
          </a:p>
          <a:p>
            <a:pPr lvl="2">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Cleaned CSV</a:t>
            </a:r>
          </a:p>
          <a:p>
            <a:pPr lvl="2">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        ↓</a:t>
            </a:r>
          </a:p>
          <a:p>
            <a:pPr lvl="2">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MySQL Database</a:t>
            </a:r>
          </a:p>
          <a:p>
            <a:pPr lvl="2">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        ↓</a:t>
            </a:r>
          </a:p>
          <a:p>
            <a:pPr lvl="2">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SQL Analysis</a:t>
            </a:r>
          </a:p>
          <a:p>
            <a:pPr lvl="2">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        ↓</a:t>
            </a:r>
          </a:p>
          <a:p>
            <a:pPr lvl="2">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Power BI Dashboard</a:t>
            </a:r>
          </a:p>
          <a:p>
            <a:pPr lvl="2">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        ↓</a:t>
            </a:r>
          </a:p>
          <a:p>
            <a:pPr lvl="2">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Business Insights</a:t>
            </a:r>
          </a:p>
        </p:txBody>
      </p:sp>
    </p:spTree>
    <p:extLst>
      <p:ext uri="{BB962C8B-B14F-4D97-AF65-F5344CB8AC3E}">
        <p14:creationId xmlns:p14="http://schemas.microsoft.com/office/powerpoint/2010/main" val="253079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0F58CB-DF4A-981A-AD4B-24257EF354D0}"/>
              </a:ext>
            </a:extLst>
          </p:cNvPr>
          <p:cNvSpPr txBox="1"/>
          <p:nvPr/>
        </p:nvSpPr>
        <p:spPr>
          <a:xfrm>
            <a:off x="3459823" y="628554"/>
            <a:ext cx="6097712" cy="5600892"/>
          </a:xfrm>
          <a:prstGeom prst="rect">
            <a:avLst/>
          </a:prstGeom>
          <a:noFill/>
        </p:spPr>
        <p:txBody>
          <a:bodyPr wrap="square">
            <a:spAutoFit/>
          </a:bodyPr>
          <a:lstStyle/>
          <a:p>
            <a:pPr algn="ctr">
              <a:lnSpc>
                <a:spcPct val="150000"/>
              </a:lnSpc>
              <a:buNone/>
            </a:pPr>
            <a:r>
              <a:rPr lang="en-IN" b="1" dirty="0">
                <a:latin typeface="Calibri" panose="020F0502020204030204" pitchFamily="34" charset="0"/>
                <a:ea typeface="Calibri" panose="020F0502020204030204" pitchFamily="34" charset="0"/>
                <a:cs typeface="Calibri" panose="020F0502020204030204" pitchFamily="34" charset="0"/>
              </a:rPr>
              <a:t>Python &amp; SQL Implementation</a:t>
            </a:r>
          </a:p>
          <a:p>
            <a:pPr algn="ctr">
              <a:lnSpc>
                <a:spcPct val="150000"/>
              </a:lnSpc>
              <a:buNone/>
            </a:pPr>
            <a:endParaRPr lang="en-IN" sz="1050" b="1" dirty="0">
              <a:latin typeface="Calibri" panose="020F0502020204030204" pitchFamily="34" charset="0"/>
              <a:ea typeface="Calibri" panose="020F0502020204030204" pitchFamily="34" charset="0"/>
              <a:cs typeface="Calibri" panose="020F0502020204030204" pitchFamily="34" charset="0"/>
            </a:endParaRPr>
          </a:p>
          <a:p>
            <a:pPr>
              <a:lnSpc>
                <a:spcPct val="150000"/>
              </a:lnSpc>
              <a:buNone/>
            </a:pPr>
            <a:r>
              <a:rPr lang="en-IN" b="1" dirty="0">
                <a:latin typeface="Calibri" panose="020F0502020204030204" pitchFamily="34" charset="0"/>
                <a:ea typeface="Calibri" panose="020F0502020204030204" pitchFamily="34" charset="0"/>
                <a:cs typeface="Calibri" panose="020F0502020204030204" pitchFamily="34" charset="0"/>
              </a:rPr>
              <a:t>Python</a:t>
            </a:r>
          </a:p>
          <a:p>
            <a:pPr lvl="1">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Removed missing values </a:t>
            </a:r>
          </a:p>
          <a:p>
            <a:pPr lvl="1">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Removed duplicates </a:t>
            </a:r>
          </a:p>
          <a:p>
            <a:pPr lvl="1">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Standardized categorical values </a:t>
            </a:r>
          </a:p>
          <a:p>
            <a:pPr lvl="1">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Created </a:t>
            </a:r>
            <a:r>
              <a:rPr lang="en-IN" dirty="0" err="1">
                <a:latin typeface="Calibri" panose="020F0502020204030204" pitchFamily="34" charset="0"/>
                <a:ea typeface="Calibri" panose="020F0502020204030204" pitchFamily="34" charset="0"/>
                <a:cs typeface="Calibri" panose="020F0502020204030204" pitchFamily="34" charset="0"/>
              </a:rPr>
              <a:t>Quarter_Label</a:t>
            </a:r>
            <a:r>
              <a:rPr lang="en-IN" dirty="0">
                <a:latin typeface="Calibri" panose="020F0502020204030204" pitchFamily="34" charset="0"/>
                <a:ea typeface="Calibri" panose="020F0502020204030204" pitchFamily="34" charset="0"/>
                <a:cs typeface="Calibri" panose="020F0502020204030204" pitchFamily="34" charset="0"/>
              </a:rPr>
              <a:t> and </a:t>
            </a:r>
            <a:r>
              <a:rPr lang="en-IN" dirty="0" err="1">
                <a:latin typeface="Calibri" panose="020F0502020204030204" pitchFamily="34" charset="0"/>
                <a:ea typeface="Calibri" panose="020F0502020204030204" pitchFamily="34" charset="0"/>
                <a:cs typeface="Calibri" panose="020F0502020204030204" pitchFamily="34" charset="0"/>
              </a:rPr>
              <a:t>Quarter_Number</a:t>
            </a:r>
            <a:r>
              <a:rPr lang="en-IN" dirty="0">
                <a:latin typeface="Calibri" panose="020F0502020204030204" pitchFamily="34" charset="0"/>
                <a:ea typeface="Calibri" panose="020F0502020204030204" pitchFamily="34" charset="0"/>
                <a:cs typeface="Calibri" panose="020F0502020204030204" pitchFamily="34" charset="0"/>
              </a:rPr>
              <a:t> </a:t>
            </a:r>
          </a:p>
          <a:p>
            <a:pPr lvl="1">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Exported cleaned dataset </a:t>
            </a:r>
          </a:p>
          <a:p>
            <a:pPr>
              <a:lnSpc>
                <a:spcPct val="150000"/>
              </a:lnSpc>
              <a:buFont typeface="Arial" panose="020B0604020202020204" pitchFamily="34" charset="0"/>
              <a:buChar char="•"/>
            </a:pPr>
            <a:endParaRPr lang="en-IN" sz="1400" dirty="0">
              <a:latin typeface="Calibri" panose="020F0502020204030204" pitchFamily="34" charset="0"/>
              <a:ea typeface="Calibri" panose="020F0502020204030204" pitchFamily="34" charset="0"/>
              <a:cs typeface="Calibri" panose="020F0502020204030204" pitchFamily="34" charset="0"/>
            </a:endParaRPr>
          </a:p>
          <a:p>
            <a:pPr>
              <a:lnSpc>
                <a:spcPct val="150000"/>
              </a:lnSpc>
              <a:buNone/>
            </a:pPr>
            <a:r>
              <a:rPr lang="en-IN" b="1" dirty="0">
                <a:latin typeface="Calibri" panose="020F0502020204030204" pitchFamily="34" charset="0"/>
                <a:ea typeface="Calibri" panose="020F0502020204030204" pitchFamily="34" charset="0"/>
                <a:cs typeface="Calibri" panose="020F0502020204030204" pitchFamily="34" charset="0"/>
              </a:rPr>
              <a:t>SQL</a:t>
            </a:r>
          </a:p>
          <a:p>
            <a:pPr lvl="1">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Created database and table </a:t>
            </a:r>
          </a:p>
          <a:p>
            <a:pPr lvl="1">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Imported cleaned data </a:t>
            </a:r>
          </a:p>
          <a:p>
            <a:pPr lvl="1">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Executed validation and aggregation queries </a:t>
            </a:r>
          </a:p>
          <a:p>
            <a:pPr lvl="1">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Connected MySQL with Power BI</a:t>
            </a:r>
          </a:p>
        </p:txBody>
      </p:sp>
    </p:spTree>
    <p:extLst>
      <p:ext uri="{BB962C8B-B14F-4D97-AF65-F5344CB8AC3E}">
        <p14:creationId xmlns:p14="http://schemas.microsoft.com/office/powerpoint/2010/main" val="436674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C4B35E-6F17-927C-019C-FFEDF14BD56F}"/>
              </a:ext>
            </a:extLst>
          </p:cNvPr>
          <p:cNvSpPr txBox="1"/>
          <p:nvPr/>
        </p:nvSpPr>
        <p:spPr>
          <a:xfrm>
            <a:off x="3047144" y="185203"/>
            <a:ext cx="6097712" cy="400110"/>
          </a:xfrm>
          <a:prstGeom prst="rect">
            <a:avLst/>
          </a:prstGeom>
          <a:noFill/>
        </p:spPr>
        <p:txBody>
          <a:bodyPr wrap="square">
            <a:spAutoFit/>
          </a:bodyPr>
          <a:lstStyle/>
          <a:p>
            <a:pPr algn="ctr"/>
            <a:r>
              <a:rPr lang="en-IN" sz="2000" b="1" dirty="0">
                <a:latin typeface="Calibri" panose="020F0502020204030204" pitchFamily="34" charset="0"/>
                <a:ea typeface="Calibri" panose="020F0502020204030204" pitchFamily="34" charset="0"/>
                <a:cs typeface="Calibri" panose="020F0502020204030204" pitchFamily="34" charset="0"/>
              </a:rPr>
              <a:t>Power BI Dashboard</a:t>
            </a:r>
          </a:p>
        </p:txBody>
      </p:sp>
      <p:pic>
        <p:nvPicPr>
          <p:cNvPr id="5" name="Picture 4">
            <a:extLst>
              <a:ext uri="{FF2B5EF4-FFF2-40B4-BE49-F238E27FC236}">
                <a16:creationId xmlns:a16="http://schemas.microsoft.com/office/drawing/2014/main" id="{12914449-E01F-BECA-5901-684785FF01E7}"/>
              </a:ext>
            </a:extLst>
          </p:cNvPr>
          <p:cNvPicPr>
            <a:picLocks noChangeAspect="1"/>
          </p:cNvPicPr>
          <p:nvPr/>
        </p:nvPicPr>
        <p:blipFill>
          <a:blip r:embed="rId2"/>
          <a:stretch>
            <a:fillRect/>
          </a:stretch>
        </p:blipFill>
        <p:spPr>
          <a:xfrm>
            <a:off x="1049065" y="1044452"/>
            <a:ext cx="7715647" cy="4769095"/>
          </a:xfrm>
          <a:prstGeom prst="rect">
            <a:avLst/>
          </a:prstGeom>
        </p:spPr>
      </p:pic>
      <p:sp>
        <p:nvSpPr>
          <p:cNvPr id="7" name="TextBox 6">
            <a:extLst>
              <a:ext uri="{FF2B5EF4-FFF2-40B4-BE49-F238E27FC236}">
                <a16:creationId xmlns:a16="http://schemas.microsoft.com/office/drawing/2014/main" id="{AC57F946-2149-F4FC-B518-17ED353F0E2E}"/>
              </a:ext>
            </a:extLst>
          </p:cNvPr>
          <p:cNvSpPr txBox="1"/>
          <p:nvPr/>
        </p:nvSpPr>
        <p:spPr>
          <a:xfrm>
            <a:off x="8840055" y="1880819"/>
            <a:ext cx="3351945" cy="3096360"/>
          </a:xfrm>
          <a:prstGeom prst="rect">
            <a:avLst/>
          </a:prstGeom>
          <a:noFill/>
        </p:spPr>
        <p:txBody>
          <a:bodyPr wrap="square">
            <a:spAutoFit/>
          </a:bodyPr>
          <a:lstStyle/>
          <a:p>
            <a:pPr>
              <a:lnSpc>
                <a:spcPct val="150000"/>
              </a:lnSpc>
              <a:buNone/>
            </a:pPr>
            <a:r>
              <a:rPr lang="en-US" sz="1600" b="1" dirty="0">
                <a:latin typeface="Calibri" panose="020F0502020204030204" pitchFamily="34" charset="0"/>
                <a:ea typeface="Calibri" panose="020F0502020204030204" pitchFamily="34" charset="0"/>
                <a:cs typeface="Calibri" panose="020F0502020204030204" pitchFamily="34" charset="0"/>
              </a:rPr>
              <a:t>Dashboard Features</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KPI Cards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Market Trends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Builder Performance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Configuration Demand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Sales Channel Analysis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Quarterly Builder Contribution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Interactive Slicers</a:t>
            </a:r>
          </a:p>
        </p:txBody>
      </p:sp>
    </p:spTree>
    <p:extLst>
      <p:ext uri="{BB962C8B-B14F-4D97-AF65-F5344CB8AC3E}">
        <p14:creationId xmlns:p14="http://schemas.microsoft.com/office/powerpoint/2010/main" val="6493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6FB44A-92AC-FD9A-FB25-EB6FB06C8B71}"/>
              </a:ext>
            </a:extLst>
          </p:cNvPr>
          <p:cNvPicPr>
            <a:picLocks noChangeAspect="1"/>
          </p:cNvPicPr>
          <p:nvPr/>
        </p:nvPicPr>
        <p:blipFill>
          <a:blip r:embed="rId2"/>
          <a:stretch>
            <a:fillRect/>
          </a:stretch>
        </p:blipFill>
        <p:spPr>
          <a:xfrm>
            <a:off x="1142378" y="1054726"/>
            <a:ext cx="7544188" cy="4769095"/>
          </a:xfrm>
          <a:prstGeom prst="rect">
            <a:avLst/>
          </a:prstGeom>
        </p:spPr>
      </p:pic>
      <p:sp>
        <p:nvSpPr>
          <p:cNvPr id="4" name="TextBox 3">
            <a:extLst>
              <a:ext uri="{FF2B5EF4-FFF2-40B4-BE49-F238E27FC236}">
                <a16:creationId xmlns:a16="http://schemas.microsoft.com/office/drawing/2014/main" id="{1A67F94A-BED5-290C-788A-BB2F77A68A40}"/>
              </a:ext>
            </a:extLst>
          </p:cNvPr>
          <p:cNvSpPr txBox="1"/>
          <p:nvPr/>
        </p:nvSpPr>
        <p:spPr>
          <a:xfrm>
            <a:off x="3047144" y="185203"/>
            <a:ext cx="6097712" cy="400110"/>
          </a:xfrm>
          <a:prstGeom prst="rect">
            <a:avLst/>
          </a:prstGeom>
          <a:noFill/>
        </p:spPr>
        <p:txBody>
          <a:bodyPr wrap="square">
            <a:spAutoFit/>
          </a:bodyPr>
          <a:lstStyle/>
          <a:p>
            <a:pPr algn="ctr"/>
            <a:r>
              <a:rPr lang="en-IN" sz="2000" b="1" dirty="0">
                <a:latin typeface="Calibri" panose="020F0502020204030204" pitchFamily="34" charset="0"/>
                <a:ea typeface="Calibri" panose="020F0502020204030204" pitchFamily="34" charset="0"/>
                <a:cs typeface="Calibri" panose="020F0502020204030204" pitchFamily="34" charset="0"/>
              </a:rPr>
              <a:t>Power BI Dashboard</a:t>
            </a:r>
          </a:p>
        </p:txBody>
      </p:sp>
      <p:sp>
        <p:nvSpPr>
          <p:cNvPr id="10" name="TextBox 9">
            <a:extLst>
              <a:ext uri="{FF2B5EF4-FFF2-40B4-BE49-F238E27FC236}">
                <a16:creationId xmlns:a16="http://schemas.microsoft.com/office/drawing/2014/main" id="{D08FEA8D-5DC3-BF9D-1273-413B15FBDA1A}"/>
              </a:ext>
            </a:extLst>
          </p:cNvPr>
          <p:cNvSpPr txBox="1"/>
          <p:nvPr/>
        </p:nvSpPr>
        <p:spPr>
          <a:xfrm>
            <a:off x="8790467" y="1653484"/>
            <a:ext cx="3401533" cy="3008772"/>
          </a:xfrm>
          <a:prstGeom prst="rect">
            <a:avLst/>
          </a:prstGeom>
          <a:noFill/>
        </p:spPr>
        <p:txBody>
          <a:bodyPr wrap="square">
            <a:spAutoFit/>
          </a:bodyPr>
          <a:lstStyle/>
          <a:p>
            <a:pPr>
              <a:lnSpc>
                <a:spcPct val="150000"/>
              </a:lnSpc>
              <a:buNone/>
            </a:pPr>
            <a:r>
              <a:rPr lang="en-US" sz="1600" b="1" dirty="0">
                <a:latin typeface="Calibri" panose="020F0502020204030204" pitchFamily="34" charset="0"/>
                <a:ea typeface="Calibri" panose="020F0502020204030204" pitchFamily="34" charset="0"/>
                <a:cs typeface="Calibri" panose="020F0502020204030204" pitchFamily="34" charset="0"/>
              </a:rPr>
              <a:t>Dashboard Features</a:t>
            </a:r>
          </a:p>
          <a:p>
            <a:pPr marL="742950" lvl="1" indent="-285750" eaLnBrk="0" fontAlgn="base" hangingPunct="0">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Top Builders </a:t>
            </a:r>
            <a:endParaRPr lang="en-IN"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eaLnBrk="0" fontAlgn="base" hangingPunct="0">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Possession Status Analysis </a:t>
            </a:r>
            <a:endParaRPr lang="en-IN"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eaLnBrk="0" fontAlgn="base" hangingPunct="0">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Amenity Impact </a:t>
            </a:r>
            <a:endParaRPr lang="en-IN"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eaLnBrk="0" fontAlgn="base" hangingPunct="0">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Buyer Distribution </a:t>
            </a:r>
            <a:endParaRPr lang="en-IN"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eaLnBrk="0" fontAlgn="base" hangingPunct="0">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Geographical Insights </a:t>
            </a:r>
            <a:endParaRPr lang="en-IN"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eaLnBrk="0" fontAlgn="base" hangingPunct="0">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Buyer Feedback Analysis </a:t>
            </a:r>
            <a:endParaRPr lang="en-IN" sz="1600" dirty="0">
              <a:latin typeface="Calibri" panose="020F0502020204030204" pitchFamily="34" charset="0"/>
              <a:ea typeface="Calibri" panose="020F0502020204030204" pitchFamily="34" charset="0"/>
              <a:cs typeface="Calibri" panose="020F0502020204030204" pitchFamily="34" charset="0"/>
            </a:endParaRPr>
          </a:p>
          <a:p>
            <a:pPr lvl="1">
              <a:lnSpc>
                <a:spcPct val="150000"/>
              </a:lnSpc>
              <a:buFont typeface="Arial" panose="020B0604020202020204" pitchFamily="34" charset="0"/>
              <a:buChar char="•"/>
            </a:pP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44001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D67232-9A34-E1BE-57B7-D89305A412F9}"/>
              </a:ext>
            </a:extLst>
          </p:cNvPr>
          <p:cNvSpPr txBox="1"/>
          <p:nvPr/>
        </p:nvSpPr>
        <p:spPr>
          <a:xfrm>
            <a:off x="3047144" y="185203"/>
            <a:ext cx="6097712" cy="400110"/>
          </a:xfrm>
          <a:prstGeom prst="rect">
            <a:avLst/>
          </a:prstGeom>
          <a:noFill/>
        </p:spPr>
        <p:txBody>
          <a:bodyPr wrap="square">
            <a:spAutoFit/>
          </a:bodyPr>
          <a:lstStyle/>
          <a:p>
            <a:pPr algn="ctr"/>
            <a:r>
              <a:rPr lang="en-US" sz="2000" b="1" dirty="0">
                <a:latin typeface="Calibri" panose="020F0502020204030204" pitchFamily="34" charset="0"/>
                <a:ea typeface="Calibri" panose="020F0502020204030204" pitchFamily="34" charset="0"/>
                <a:cs typeface="Calibri" panose="020F0502020204030204" pitchFamily="34" charset="0"/>
              </a:rPr>
              <a:t>B</a:t>
            </a:r>
            <a:r>
              <a:rPr lang="en-IN" sz="2000" b="1" dirty="0" err="1">
                <a:latin typeface="Calibri" panose="020F0502020204030204" pitchFamily="34" charset="0"/>
                <a:ea typeface="Calibri" panose="020F0502020204030204" pitchFamily="34" charset="0"/>
                <a:cs typeface="Calibri" panose="020F0502020204030204" pitchFamily="34" charset="0"/>
              </a:rPr>
              <a:t>usiness</a:t>
            </a:r>
            <a:r>
              <a:rPr lang="en-IN" sz="2000" b="1" dirty="0">
                <a:latin typeface="Calibri" panose="020F0502020204030204" pitchFamily="34" charset="0"/>
                <a:ea typeface="Calibri" panose="020F0502020204030204" pitchFamily="34" charset="0"/>
                <a:cs typeface="Calibri" panose="020F0502020204030204" pitchFamily="34" charset="0"/>
              </a:rPr>
              <a:t> Insight</a:t>
            </a:r>
          </a:p>
        </p:txBody>
      </p:sp>
      <p:sp>
        <p:nvSpPr>
          <p:cNvPr id="4" name="TextBox 3">
            <a:extLst>
              <a:ext uri="{FF2B5EF4-FFF2-40B4-BE49-F238E27FC236}">
                <a16:creationId xmlns:a16="http://schemas.microsoft.com/office/drawing/2014/main" id="{38160A27-A158-2581-8E5B-18763081E959}"/>
              </a:ext>
            </a:extLst>
          </p:cNvPr>
          <p:cNvSpPr txBox="1"/>
          <p:nvPr/>
        </p:nvSpPr>
        <p:spPr>
          <a:xfrm>
            <a:off x="1616149" y="914491"/>
            <a:ext cx="9856382" cy="5594096"/>
          </a:xfrm>
          <a:prstGeom prst="rect">
            <a:avLst/>
          </a:prstGeom>
          <a:noFill/>
        </p:spPr>
        <p:txBody>
          <a:bodyPr wrap="square">
            <a:spAutoFit/>
          </a:bodyPr>
          <a:lstStyle/>
          <a:p>
            <a:pPr>
              <a:lnSpc>
                <a:spcPct val="150000"/>
              </a:lnSpc>
              <a:buNone/>
            </a:pPr>
            <a:r>
              <a:rPr lang="en-US" sz="1600" b="1" dirty="0">
                <a:latin typeface="Calibri" panose="020F0502020204030204" pitchFamily="34" charset="0"/>
                <a:ea typeface="Calibri" panose="020F0502020204030204" pitchFamily="34" charset="0"/>
                <a:cs typeface="Calibri" panose="020F0502020204030204" pitchFamily="34" charset="0"/>
              </a:rPr>
              <a:t>KPI Cards</a:t>
            </a:r>
            <a:endParaRPr lang="en-US" sz="1600" dirty="0">
              <a:latin typeface="Calibri" panose="020F0502020204030204" pitchFamily="34" charset="0"/>
              <a:ea typeface="Calibri" panose="020F0502020204030204" pitchFamily="34" charset="0"/>
              <a:cs typeface="Calibri" panose="020F0502020204030204" pitchFamily="34" charset="0"/>
            </a:endParaRP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The total revenue exceeds 1.27 million (dataset units), indicating a high-value luxury housing market.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The average ticket price is 12.65 Cr, reflecting premium residential investments.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The average amenity score of 7.50/10 suggests that most luxury projects provide above-average amenities. </a:t>
            </a:r>
          </a:p>
          <a:p>
            <a:pPr>
              <a:lnSpc>
                <a:spcPct val="150000"/>
              </a:lnSpc>
              <a:buNone/>
            </a:pP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b="1" dirty="0">
                <a:latin typeface="Calibri" panose="020F0502020204030204" pitchFamily="34" charset="0"/>
                <a:ea typeface="Calibri" panose="020F0502020204030204" pitchFamily="34" charset="0"/>
                <a:cs typeface="Calibri" panose="020F0502020204030204" pitchFamily="34" charset="0"/>
              </a:rPr>
              <a:t>Builder Performance</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Revenue is distributed among several leading builders, indicating a competitive luxury housing market.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The average ticket prices across leading builders are relatively close, suggesting similar pricing strategies within the luxury segment.</a:t>
            </a:r>
          </a:p>
          <a:p>
            <a:pPr lvl="1">
              <a:lnSpc>
                <a:spcPct val="150000"/>
              </a:lnSpc>
            </a:pPr>
            <a:endParaRPr lang="en-US" sz="1600" dirty="0">
              <a:latin typeface="Calibri" panose="020F0502020204030204" pitchFamily="34" charset="0"/>
              <a:ea typeface="Calibri" panose="020F0502020204030204" pitchFamily="34" charset="0"/>
              <a:cs typeface="Calibri" panose="020F0502020204030204" pitchFamily="34" charset="0"/>
            </a:endParaRPr>
          </a:p>
          <a:p>
            <a:pPr>
              <a:lnSpc>
                <a:spcPct val="150000"/>
              </a:lnSpc>
              <a:buNone/>
            </a:pPr>
            <a:r>
              <a:rPr lang="en-IN" sz="1600" b="1" dirty="0">
                <a:latin typeface="Calibri" panose="020F0502020204030204" pitchFamily="34" charset="0"/>
                <a:ea typeface="Calibri" panose="020F0502020204030204" pitchFamily="34" charset="0"/>
                <a:cs typeface="Calibri" panose="020F0502020204030204" pitchFamily="34" charset="0"/>
              </a:rPr>
              <a:t>Sales Channel Distribution</a:t>
            </a:r>
            <a:endParaRPr lang="en-US" sz="1600" b="1" dirty="0">
              <a:latin typeface="Calibri" panose="020F0502020204030204" pitchFamily="34" charset="0"/>
              <a:ea typeface="Calibri" panose="020F0502020204030204" pitchFamily="34" charset="0"/>
              <a:cs typeface="Calibri" panose="020F0502020204030204" pitchFamily="34" charset="0"/>
            </a:endParaRPr>
          </a:p>
          <a:p>
            <a:pPr lvl="1" defTabSz="914400" eaLnBrk="0" fontAlgn="base" hangingPunct="0">
              <a:lnSpc>
                <a:spcPct val="150000"/>
              </a:lnSpc>
              <a:spcBef>
                <a:spcPct val="0"/>
              </a:spcBef>
              <a:spcAft>
                <a:spcPct val="0"/>
              </a:spcAft>
              <a:buFontTx/>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Buyer types are distributed fairly evenly across all sales channels. </a:t>
            </a:r>
          </a:p>
          <a:p>
            <a:pPr lvl="1" defTabSz="914400" eaLnBrk="0" fontAlgn="base" hangingPunct="0">
              <a:lnSpc>
                <a:spcPct val="150000"/>
              </a:lnSpc>
              <a:spcBef>
                <a:spcPct val="0"/>
              </a:spcBef>
              <a:spcAft>
                <a:spcPct val="0"/>
              </a:spcAft>
              <a:buFontTx/>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No single sales channel dominates a specific buyer segment, indicating that multiple sales channels effectively serve diverse customer groups. </a:t>
            </a:r>
          </a:p>
          <a:p>
            <a:pPr lvl="1">
              <a:lnSpc>
                <a:spcPct val="150000"/>
              </a:lnSpc>
            </a:pP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5769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37F4C1-6187-24B5-99B3-65E40A368B90}"/>
              </a:ext>
            </a:extLst>
          </p:cNvPr>
          <p:cNvSpPr txBox="1"/>
          <p:nvPr/>
        </p:nvSpPr>
        <p:spPr>
          <a:xfrm>
            <a:off x="2179675" y="1001284"/>
            <a:ext cx="8995143" cy="4855432"/>
          </a:xfrm>
          <a:prstGeom prst="rect">
            <a:avLst/>
          </a:prstGeom>
          <a:noFill/>
        </p:spPr>
        <p:txBody>
          <a:bodyPr wrap="square">
            <a:spAutoFit/>
          </a:bodyPr>
          <a:lstStyle/>
          <a:p>
            <a:pPr>
              <a:lnSpc>
                <a:spcPct val="150000"/>
              </a:lnSpc>
              <a:buNone/>
            </a:pPr>
            <a:r>
              <a:rPr lang="en-US" sz="1600" b="1" dirty="0">
                <a:latin typeface="Calibri" panose="020F0502020204030204" pitchFamily="34" charset="0"/>
                <a:ea typeface="Calibri" panose="020F0502020204030204" pitchFamily="34" charset="0"/>
                <a:cs typeface="Calibri" panose="020F0502020204030204" pitchFamily="34" charset="0"/>
              </a:rPr>
              <a:t>Quarterly Market Trends</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Booking activity remains relatively stable across all four quarters.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Different micro-markets experience varying quarterly demand, indicating </a:t>
            </a:r>
            <a:r>
              <a:rPr lang="en-US" sz="1600" b="1" dirty="0">
                <a:latin typeface="Calibri" panose="020F0502020204030204" pitchFamily="34" charset="0"/>
                <a:ea typeface="Calibri" panose="020F0502020204030204" pitchFamily="34" charset="0"/>
                <a:cs typeface="Calibri" panose="020F0502020204030204" pitchFamily="34" charset="0"/>
              </a:rPr>
              <a:t>localized seasonal trends</a:t>
            </a:r>
            <a:r>
              <a:rPr lang="en-US" sz="1600" dirty="0">
                <a:latin typeface="Calibri" panose="020F0502020204030204" pitchFamily="34" charset="0"/>
                <a:ea typeface="Calibri" panose="020F0502020204030204" pitchFamily="34" charset="0"/>
                <a:cs typeface="Calibri" panose="020F0502020204030204" pitchFamily="34" charset="0"/>
              </a:rPr>
              <a:t> rather than a city-wide pattern.  </a:t>
            </a:r>
            <a:br>
              <a:rPr lang="en-US" sz="1600" dirty="0">
                <a:latin typeface="Calibri" panose="020F0502020204030204" pitchFamily="34" charset="0"/>
                <a:ea typeface="Calibri" panose="020F0502020204030204" pitchFamily="34" charset="0"/>
                <a:cs typeface="Calibri" panose="020F0502020204030204" pitchFamily="34" charset="0"/>
              </a:rPr>
            </a:br>
            <a:endParaRPr lang="en-US" sz="1600" dirty="0">
              <a:latin typeface="Calibri" panose="020F0502020204030204" pitchFamily="34" charset="0"/>
              <a:ea typeface="Calibri" panose="020F0502020204030204" pitchFamily="34" charset="0"/>
              <a:cs typeface="Calibri" panose="020F0502020204030204" pitchFamily="34" charset="0"/>
            </a:endParaRPr>
          </a:p>
          <a:p>
            <a:pPr>
              <a:lnSpc>
                <a:spcPct val="150000"/>
              </a:lnSpc>
              <a:buNone/>
            </a:pPr>
            <a:r>
              <a:rPr lang="en-US" sz="1600" b="1" dirty="0">
                <a:latin typeface="Calibri" panose="020F0502020204030204" pitchFamily="34" charset="0"/>
                <a:ea typeface="Calibri" panose="020F0502020204030204" pitchFamily="34" charset="0"/>
                <a:cs typeface="Calibri" panose="020F0502020204030204" pitchFamily="34" charset="0"/>
              </a:rPr>
              <a:t>Configuration Demand</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Demand is almost evenly distributed among </a:t>
            </a:r>
            <a:r>
              <a:rPr lang="en-US" sz="1600" b="1" dirty="0">
                <a:latin typeface="Calibri" panose="020F0502020204030204" pitchFamily="34" charset="0"/>
                <a:ea typeface="Calibri" panose="020F0502020204030204" pitchFamily="34" charset="0"/>
                <a:cs typeface="Calibri" panose="020F0502020204030204" pitchFamily="34" charset="0"/>
              </a:rPr>
              <a:t>3BHK, 4BHK, and 5BHK+</a:t>
            </a:r>
            <a:r>
              <a:rPr lang="en-US" sz="1600" dirty="0">
                <a:latin typeface="Calibri" panose="020F0502020204030204" pitchFamily="34" charset="0"/>
                <a:ea typeface="Calibri" panose="020F0502020204030204" pitchFamily="34" charset="0"/>
                <a:cs typeface="Calibri" panose="020F0502020204030204" pitchFamily="34" charset="0"/>
              </a:rPr>
              <a:t> configurations.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Developers should maintain a balanced inventory portfolio. </a:t>
            </a:r>
          </a:p>
          <a:p>
            <a:pPr>
              <a:lnSpc>
                <a:spcPct val="150000"/>
              </a:lnSpc>
              <a:buNone/>
            </a:pPr>
            <a:endParaRPr lang="en-US" sz="1600" dirty="0">
              <a:latin typeface="Calibri" panose="020F0502020204030204" pitchFamily="34" charset="0"/>
              <a:ea typeface="Calibri" panose="020F0502020204030204" pitchFamily="34" charset="0"/>
              <a:cs typeface="Calibri" panose="020F0502020204030204" pitchFamily="34" charset="0"/>
            </a:endParaRPr>
          </a:p>
          <a:p>
            <a:pPr>
              <a:lnSpc>
                <a:spcPct val="150000"/>
              </a:lnSpc>
              <a:buNone/>
            </a:pPr>
            <a:r>
              <a:rPr lang="en-US" sz="1600" b="1" dirty="0">
                <a:latin typeface="Calibri" panose="020F0502020204030204" pitchFamily="34" charset="0"/>
                <a:ea typeface="Calibri" panose="020F0502020204030204" pitchFamily="34" charset="0"/>
                <a:cs typeface="Calibri" panose="020F0502020204030204" pitchFamily="34" charset="0"/>
              </a:rPr>
              <a:t>Quarterly Builder Contribution</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Leading builders consistently contribute revenue throughout all quarters.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Revenue contributions remain relatively stable, demonstrating sustained market presence rather than seasonal dependence. </a:t>
            </a:r>
          </a:p>
        </p:txBody>
      </p:sp>
      <p:sp>
        <p:nvSpPr>
          <p:cNvPr id="4" name="TextBox 3">
            <a:extLst>
              <a:ext uri="{FF2B5EF4-FFF2-40B4-BE49-F238E27FC236}">
                <a16:creationId xmlns:a16="http://schemas.microsoft.com/office/drawing/2014/main" id="{BC2E82C4-CDE1-59F6-337B-AC2ECE00F6BC}"/>
              </a:ext>
            </a:extLst>
          </p:cNvPr>
          <p:cNvSpPr txBox="1"/>
          <p:nvPr/>
        </p:nvSpPr>
        <p:spPr>
          <a:xfrm>
            <a:off x="3047144" y="185203"/>
            <a:ext cx="6097712" cy="400110"/>
          </a:xfrm>
          <a:prstGeom prst="rect">
            <a:avLst/>
          </a:prstGeom>
          <a:noFill/>
        </p:spPr>
        <p:txBody>
          <a:bodyPr wrap="square">
            <a:spAutoFit/>
          </a:bodyPr>
          <a:lstStyle/>
          <a:p>
            <a:pPr algn="ctr"/>
            <a:r>
              <a:rPr lang="en-US" sz="2000" b="1" dirty="0">
                <a:latin typeface="Calibri" panose="020F0502020204030204" pitchFamily="34" charset="0"/>
                <a:ea typeface="Calibri" panose="020F0502020204030204" pitchFamily="34" charset="0"/>
                <a:cs typeface="Calibri" panose="020F0502020204030204" pitchFamily="34" charset="0"/>
              </a:rPr>
              <a:t>B</a:t>
            </a:r>
            <a:r>
              <a:rPr lang="en-IN" sz="2000" b="1" dirty="0" err="1">
                <a:latin typeface="Calibri" panose="020F0502020204030204" pitchFamily="34" charset="0"/>
                <a:ea typeface="Calibri" panose="020F0502020204030204" pitchFamily="34" charset="0"/>
                <a:cs typeface="Calibri" panose="020F0502020204030204" pitchFamily="34" charset="0"/>
              </a:rPr>
              <a:t>usiness</a:t>
            </a:r>
            <a:r>
              <a:rPr lang="en-IN" sz="2000" b="1" dirty="0">
                <a:latin typeface="Calibri" panose="020F0502020204030204" pitchFamily="34" charset="0"/>
                <a:ea typeface="Calibri" panose="020F0502020204030204" pitchFamily="34" charset="0"/>
                <a:cs typeface="Calibri" panose="020F0502020204030204" pitchFamily="34" charset="0"/>
              </a:rPr>
              <a:t> Insight</a:t>
            </a:r>
          </a:p>
        </p:txBody>
      </p:sp>
    </p:spTree>
    <p:extLst>
      <p:ext uri="{BB962C8B-B14F-4D97-AF65-F5344CB8AC3E}">
        <p14:creationId xmlns:p14="http://schemas.microsoft.com/office/powerpoint/2010/main" val="3010469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E50E17-49B1-3AF0-6853-BCD3D28FA1D8}"/>
              </a:ext>
            </a:extLst>
          </p:cNvPr>
          <p:cNvSpPr txBox="1"/>
          <p:nvPr/>
        </p:nvSpPr>
        <p:spPr>
          <a:xfrm>
            <a:off x="1541722" y="709907"/>
            <a:ext cx="10504968" cy="6148093"/>
          </a:xfrm>
          <a:prstGeom prst="rect">
            <a:avLst/>
          </a:prstGeom>
          <a:noFill/>
        </p:spPr>
        <p:txBody>
          <a:bodyPr wrap="square">
            <a:spAutoFit/>
          </a:bodyPr>
          <a:lstStyle/>
          <a:p>
            <a:pPr>
              <a:lnSpc>
                <a:spcPct val="150000"/>
              </a:lnSpc>
              <a:buNone/>
            </a:pPr>
            <a:r>
              <a:rPr lang="en-US" sz="1600" b="1" dirty="0">
                <a:latin typeface="Calibri" panose="020F0502020204030204" pitchFamily="34" charset="0"/>
                <a:ea typeface="Calibri" panose="020F0502020204030204" pitchFamily="34" charset="0"/>
                <a:cs typeface="Calibri" panose="020F0502020204030204" pitchFamily="34" charset="0"/>
              </a:rPr>
              <a:t>Possession Status Analysis</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Buyer distribution remains fairly balanced across projects that are Under Construction, Launch, and Ready to Move.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Customers continue investing in projects at different construction stages, reflecting confidence in reputed developers. </a:t>
            </a:r>
          </a:p>
          <a:p>
            <a:pPr>
              <a:lnSpc>
                <a:spcPct val="150000"/>
              </a:lnSpc>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buNone/>
            </a:pPr>
            <a:r>
              <a:rPr lang="en-US" sz="1600" b="1" dirty="0">
                <a:latin typeface="Calibri" panose="020F0502020204030204" pitchFamily="34" charset="0"/>
                <a:ea typeface="Calibri" panose="020F0502020204030204" pitchFamily="34" charset="0"/>
                <a:cs typeface="Calibri" panose="020F0502020204030204" pitchFamily="34" charset="0"/>
              </a:rPr>
              <a:t>Top Builders by Revenue</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Prestige and other leading developers generate the highest overall revenue.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Revenue differences among the top builders are relatively small, indicating healthy competition within the luxury housing market. </a:t>
            </a:r>
          </a:p>
          <a:p>
            <a:pPr lvl="1">
              <a:lnSpc>
                <a:spcPct val="150000"/>
              </a:lnSpc>
            </a:pPr>
            <a:r>
              <a:rPr lang="en-US" sz="1200" dirty="0">
                <a:latin typeface="Calibri" panose="020F0502020204030204" pitchFamily="34" charset="0"/>
                <a:ea typeface="Calibri" panose="020F0502020204030204" pitchFamily="34" charset="0"/>
                <a:cs typeface="Calibri" panose="020F0502020204030204" pitchFamily="34" charset="0"/>
              </a:rPr>
              <a:t> </a:t>
            </a:r>
          </a:p>
          <a:p>
            <a:pPr>
              <a:lnSpc>
                <a:spcPct val="150000"/>
              </a:lnSpc>
            </a:pPr>
            <a:r>
              <a:rPr lang="en-US" sz="1600" b="1" dirty="0">
                <a:latin typeface="Calibri" panose="020F0502020204030204" pitchFamily="34" charset="0"/>
                <a:ea typeface="Calibri" panose="020F0502020204030204" pitchFamily="34" charset="0"/>
                <a:cs typeface="Calibri" panose="020F0502020204030204" pitchFamily="34" charset="0"/>
              </a:rPr>
              <a:t>Amenity Score vs Ticket Price</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Projects with higher amenity scores generally tend to have higher average ticket prices.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Premium amenities appear to contribute positively to perceived property value and pricing. </a:t>
            </a:r>
          </a:p>
          <a:p>
            <a:pPr lvl="1">
              <a:lnSpc>
                <a:spcPct val="150000"/>
              </a:lnSpc>
            </a:pPr>
            <a:endParaRPr lang="en-US"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buNone/>
            </a:pPr>
            <a:r>
              <a:rPr lang="en-US" sz="1600" b="1" dirty="0">
                <a:latin typeface="Calibri" panose="020F0502020204030204" pitchFamily="34" charset="0"/>
                <a:ea typeface="Calibri" panose="020F0502020204030204" pitchFamily="34" charset="0"/>
                <a:cs typeface="Calibri" panose="020F0502020204030204" pitchFamily="34" charset="0"/>
              </a:rPr>
              <a:t>Buyer Distribution Across Micro Markets</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Buyer types are consistently distributed across major Bengaluru micro-markets. </a:t>
            </a:r>
          </a:p>
          <a:p>
            <a:pPr lvl="1">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No single buyer category overwhelmingly dominates any specific location, indicating broad demand across customer segments.</a:t>
            </a:r>
          </a:p>
        </p:txBody>
      </p:sp>
      <p:sp>
        <p:nvSpPr>
          <p:cNvPr id="4" name="TextBox 3">
            <a:extLst>
              <a:ext uri="{FF2B5EF4-FFF2-40B4-BE49-F238E27FC236}">
                <a16:creationId xmlns:a16="http://schemas.microsoft.com/office/drawing/2014/main" id="{B167876E-7F6C-F9A2-46E9-449E38F0ACE9}"/>
              </a:ext>
            </a:extLst>
          </p:cNvPr>
          <p:cNvSpPr txBox="1"/>
          <p:nvPr/>
        </p:nvSpPr>
        <p:spPr>
          <a:xfrm>
            <a:off x="3047144" y="185203"/>
            <a:ext cx="6097712" cy="400110"/>
          </a:xfrm>
          <a:prstGeom prst="rect">
            <a:avLst/>
          </a:prstGeom>
          <a:noFill/>
        </p:spPr>
        <p:txBody>
          <a:bodyPr wrap="square">
            <a:spAutoFit/>
          </a:bodyPr>
          <a:lstStyle/>
          <a:p>
            <a:pPr algn="ctr"/>
            <a:r>
              <a:rPr lang="en-US" sz="2000" b="1" dirty="0">
                <a:latin typeface="Calibri" panose="020F0502020204030204" pitchFamily="34" charset="0"/>
                <a:ea typeface="Calibri" panose="020F0502020204030204" pitchFamily="34" charset="0"/>
                <a:cs typeface="Calibri" panose="020F0502020204030204" pitchFamily="34" charset="0"/>
              </a:rPr>
              <a:t>B</a:t>
            </a:r>
            <a:r>
              <a:rPr lang="en-IN" sz="2000" b="1" dirty="0" err="1">
                <a:latin typeface="Calibri" panose="020F0502020204030204" pitchFamily="34" charset="0"/>
                <a:ea typeface="Calibri" panose="020F0502020204030204" pitchFamily="34" charset="0"/>
                <a:cs typeface="Calibri" panose="020F0502020204030204" pitchFamily="34" charset="0"/>
              </a:rPr>
              <a:t>usiness</a:t>
            </a:r>
            <a:r>
              <a:rPr lang="en-IN" sz="2000" b="1" dirty="0">
                <a:latin typeface="Calibri" panose="020F0502020204030204" pitchFamily="34" charset="0"/>
                <a:ea typeface="Calibri" panose="020F0502020204030204" pitchFamily="34" charset="0"/>
                <a:cs typeface="Calibri" panose="020F0502020204030204" pitchFamily="34" charset="0"/>
              </a:rPr>
              <a:t> Insight</a:t>
            </a:r>
          </a:p>
        </p:txBody>
      </p:sp>
    </p:spTree>
    <p:extLst>
      <p:ext uri="{BB962C8B-B14F-4D97-AF65-F5344CB8AC3E}">
        <p14:creationId xmlns:p14="http://schemas.microsoft.com/office/powerpoint/2010/main" val="328866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82AA46-72D2-F6CB-B3D5-1B136AD20255}"/>
              </a:ext>
            </a:extLst>
          </p:cNvPr>
          <p:cNvSpPr txBox="1"/>
          <p:nvPr/>
        </p:nvSpPr>
        <p:spPr>
          <a:xfrm>
            <a:off x="2925565" y="1059717"/>
            <a:ext cx="7132833" cy="3788858"/>
          </a:xfrm>
          <a:prstGeom prst="rect">
            <a:avLst/>
          </a:prstGeom>
          <a:noFill/>
        </p:spPr>
        <p:txBody>
          <a:bodyPr wrap="square">
            <a:spAutoFit/>
          </a:bodyPr>
          <a:lstStyle/>
          <a:p>
            <a:pPr>
              <a:lnSpc>
                <a:spcPct val="150000"/>
              </a:lnSpc>
              <a:buNone/>
            </a:pPr>
            <a:r>
              <a:rPr lang="en-US" b="1" dirty="0">
                <a:latin typeface="Calibri" panose="020F0502020204030204" pitchFamily="34" charset="0"/>
                <a:ea typeface="Calibri" panose="020F0502020204030204" pitchFamily="34" charset="0"/>
                <a:cs typeface="Calibri" panose="020F0502020204030204" pitchFamily="34" charset="0"/>
              </a:rPr>
              <a:t>Conclusion</a:t>
            </a:r>
          </a:p>
          <a:p>
            <a:pPr lvl="1">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Successfully built a complete ETL and analytics pipeline. </a:t>
            </a:r>
          </a:p>
          <a:p>
            <a:pPr lvl="1">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Developed an interactive Power BI dashboard connected to MySQL. </a:t>
            </a:r>
          </a:p>
          <a:p>
            <a:pPr lvl="1">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Generated actionable business insights for the luxury housing market.</a:t>
            </a:r>
          </a:p>
          <a:p>
            <a:pPr lvl="1">
              <a:lnSpc>
                <a:spcPct val="150000"/>
              </a:lnSpc>
            </a:pPr>
            <a:endParaRPr lang="en-US" dirty="0">
              <a:latin typeface="Calibri" panose="020F0502020204030204" pitchFamily="34" charset="0"/>
              <a:ea typeface="Calibri" panose="020F0502020204030204" pitchFamily="34" charset="0"/>
              <a:cs typeface="Calibri" panose="020F0502020204030204" pitchFamily="34" charset="0"/>
            </a:endParaRPr>
          </a:p>
          <a:p>
            <a:pPr lvl="1">
              <a:lnSpc>
                <a:spcPct val="150000"/>
              </a:lnSpc>
            </a:pPr>
            <a:endParaRPr lang="en-US" dirty="0">
              <a:latin typeface="Calibri" panose="020F0502020204030204" pitchFamily="34" charset="0"/>
              <a:ea typeface="Calibri" panose="020F0502020204030204" pitchFamily="34" charset="0"/>
              <a:cs typeface="Calibri" panose="020F0502020204030204" pitchFamily="34" charset="0"/>
            </a:endParaRPr>
          </a:p>
          <a:p>
            <a:pPr lvl="1">
              <a:lnSpc>
                <a:spcPct val="150000"/>
              </a:lnSpc>
            </a:pPr>
            <a:endParaRPr lang="en-US" dirty="0">
              <a:latin typeface="Calibri" panose="020F0502020204030204" pitchFamily="34" charset="0"/>
              <a:ea typeface="Calibri" panose="020F0502020204030204" pitchFamily="34" charset="0"/>
              <a:cs typeface="Calibri" panose="020F0502020204030204" pitchFamily="34" charset="0"/>
            </a:endParaRPr>
          </a:p>
          <a:p>
            <a:pPr lvl="1" algn="ctr">
              <a:lnSpc>
                <a:spcPct val="150000"/>
              </a:lnSpc>
            </a:pPr>
            <a:r>
              <a:rPr lang="en-IN" b="1" i="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Thank You!</a:t>
            </a:r>
            <a:endParaRPr lang="en-IN" sz="2400" i="1" kern="1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1765434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61</TotalTime>
  <Words>652</Words>
  <Application>Microsoft Office PowerPoint</Application>
  <PresentationFormat>Widescreen</PresentationFormat>
  <Paragraphs>131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Century Gothic</vt:lpstr>
      <vt:lpstr>Wingdings 3</vt:lpstr>
      <vt:lpstr>Wisp</vt:lpstr>
      <vt:lpstr>Luxury Housing Sales Analysis – Bengaluru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Silviya X</dc:creator>
  <cp:lastModifiedBy>Silviya X</cp:lastModifiedBy>
  <cp:revision>2</cp:revision>
  <dcterms:created xsi:type="dcterms:W3CDTF">2026-07-12T13:51:40Z</dcterms:created>
  <dcterms:modified xsi:type="dcterms:W3CDTF">2026-07-12T14:53:35Z</dcterms:modified>
</cp:coreProperties>
</file>